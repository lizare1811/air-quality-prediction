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9BCF-DC79-A0B0-0CE5-2E9477179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ECAA5-0986-5B6E-E055-1190B4536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03D27-B850-8814-0899-2AFB2F04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9B2-6A03-415F-D148-511885C1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2BA57-7628-5395-8510-A8FC0D08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13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D58F-8B8A-8D27-A175-AD3C9585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4420-1505-8205-FC6D-33D8DB7B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0BEBA-5840-CC88-473F-76D8C203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B0E90-DB4A-2E07-DF28-24C3F6E1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D2858-C6EA-8737-A0A7-ADEC4894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2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10DE-BACD-EBAD-F43F-1AF0A841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A2247-9F9C-3D03-1949-727EC5070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930B-CBF6-410D-7DA8-9DF22682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DEEF7-09B1-3242-4AB8-F385C107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6E807-68DD-6A0B-25C3-75109FFE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75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A8DA-13E5-68B0-2E8F-BCD09043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1BA98-659D-F31F-B1AC-DF9F26793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288B7-473E-9F45-AAA4-BEBF544D9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0F11C-B1FC-D6AB-C5D8-54A51656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C6CAF-DBB9-D4AF-2385-0E0350BB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60E8E-BA34-E30C-F76F-FEBFC190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77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5499-D6CF-6107-5778-2B445BFB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848E4-67D2-3A80-FC70-BD4A88CA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9122E-ECF1-C602-475C-CB16DFB59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0EFD4-3A06-7FFA-8456-D439A9147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20B2EE-0700-6A9E-86EB-061379BA2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7BCFB-5B53-2AAA-F58E-36A0B1D1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D19DD9-7632-D065-4861-78EB0BB3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4DA12-6FB7-D8C9-D487-7FBE326D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85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8C03-9ADD-00D8-4C56-47E2B73D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31B67F-C6AF-B4BC-3C07-268A54EE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CB105-9289-5E67-122B-B2339EB1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C1716-7067-5981-5747-CE2E0DBA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69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10EBE7-B287-77FD-1399-7E0C822D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F5FD6-5E9C-59DC-4FAB-6702BBE2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CD719-8AFC-98BB-EC6E-8C74602D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7799-9928-1FBF-4D5C-A63CB1043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50698-F79E-10FA-37FE-95CD5090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7A654-2D47-9A4E-765F-3C6A45441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5EAD-4A22-D55A-64A4-2917B4F7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C3279-AC9D-B26F-AE13-2B89C56A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C8193-87CF-A584-C09F-5573273A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1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193E-CAEE-27EA-C7A0-4366E4D29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05647-54A4-FBE2-CD9F-5C986717F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A39AD-D3A6-89C9-37C3-B4B8EE30C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FB079-AF91-DA32-C750-D03663FF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8D419-23A5-496F-F7BA-7E1CB532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2CFB7-94B5-D95C-9F39-371A65CD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24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1BF8-0510-88C3-24D3-DFFD1AC1C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C0087-D325-28A5-479B-77C0E363C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7C744-13CE-6FC3-9DEB-73B52BB4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87AD2-1455-3CE3-7D1D-DA2B5C6C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335BC-8319-5FFA-2645-4E1115DE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1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3FB0F-3CE8-17B1-603F-D099AE303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4D334-0CD5-D0E9-61C4-B3568114A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6F499-B884-1764-6940-2A9090BE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5036E-A7EA-40DC-F1AA-285C4727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5F28-14D5-49C5-AD63-F49CE202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52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E01E4-7EC3-6239-06D5-DFD120E0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42D5A-965B-5CF2-49E5-4CF2F2F18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A3E90-B0FA-1508-3704-1FD6651C6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468A9-1921-4FC8-92F1-8EC0452FF2B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E7B2-3D2E-EDD5-6939-3BDF2DB3F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8B6A2-5F33-21AA-A147-BB4498016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7B2FE-336D-4578-B5C1-704183448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4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A432-ECC9-BA3B-EAD3-4A1DC70A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315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AIR QUALITY PREDICTION USING DEEP LEARNING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ARTIFICAL NEURAL NETWORK(ANN)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27ED7-60E2-BAB6-6A9F-18026E36D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39748"/>
            <a:ext cx="9144000" cy="944216"/>
          </a:xfrm>
        </p:spPr>
        <p:txBody>
          <a:bodyPr/>
          <a:lstStyle/>
          <a:p>
            <a:r>
              <a:rPr lang="en-US" dirty="0"/>
              <a:t>BY : LIZARE SHERINE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53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3BB1-3239-C722-F1A4-A0134692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922" y="365125"/>
            <a:ext cx="7258878" cy="1325563"/>
          </a:xfrm>
        </p:spPr>
        <p:txBody>
          <a:bodyPr/>
          <a:lstStyle/>
          <a:p>
            <a:r>
              <a:rPr lang="en-US" b="1" i="1" dirty="0"/>
              <a:t>INTRODUCTION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0EEA1-3519-8447-AEB7-35328A209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90688"/>
            <a:ext cx="5771322" cy="4918834"/>
          </a:xfrm>
        </p:spPr>
        <p:txBody>
          <a:bodyPr>
            <a:normAutofit fontScale="92500"/>
          </a:bodyPr>
          <a:lstStyle/>
          <a:p>
            <a:r>
              <a:rPr lang="en-US" dirty="0"/>
              <a:t>Air pollution is a major environmental and health concern</a:t>
            </a:r>
          </a:p>
          <a:p>
            <a:r>
              <a:rPr lang="en-US" dirty="0"/>
              <a:t>Pollutants like </a:t>
            </a:r>
            <a:r>
              <a:rPr lang="en-US" b="1" dirty="0"/>
              <a:t>PM2.5</a:t>
            </a:r>
            <a:r>
              <a:rPr lang="en-US" dirty="0"/>
              <a:t> and </a:t>
            </a:r>
            <a:r>
              <a:rPr lang="en-US" b="1" dirty="0"/>
              <a:t>PM10</a:t>
            </a:r>
            <a:r>
              <a:rPr lang="en-US" dirty="0"/>
              <a:t> severely affect human health</a:t>
            </a:r>
          </a:p>
          <a:p>
            <a:r>
              <a:rPr lang="en-US" dirty="0"/>
              <a:t>Predicting air quality in advance helps in early warnings and planning</a:t>
            </a:r>
          </a:p>
          <a:p>
            <a:r>
              <a:rPr lang="en-US" dirty="0"/>
              <a:t>Deep Learning models can capture complex pollution patterns</a:t>
            </a:r>
          </a:p>
          <a:p>
            <a:r>
              <a:rPr lang="en-US" b="1" dirty="0">
                <a:solidFill>
                  <a:srgbClr val="FF0000"/>
                </a:solidFill>
              </a:rPr>
              <a:t>Figure 1 </a:t>
            </a:r>
            <a:r>
              <a:rPr lang="en-US" dirty="0"/>
              <a:t>: This image shows the Air Quality Index scale, which categorizes air pollution levels from good to hazardous.</a:t>
            </a:r>
            <a:endParaRPr lang="en-IN" dirty="0"/>
          </a:p>
        </p:txBody>
      </p:sp>
      <p:pic>
        <p:nvPicPr>
          <p:cNvPr id="1027" name="Picture 3" descr="Air Quality Index with Color Scales 1114727 Vector Art at Vecteezy">
            <a:extLst>
              <a:ext uri="{FF2B5EF4-FFF2-40B4-BE49-F238E27FC236}">
                <a16:creationId xmlns:a16="http://schemas.microsoft.com/office/drawing/2014/main" id="{2B20EE27-CDE5-02A5-3AB5-3E0EE5663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261" y="1690688"/>
            <a:ext cx="3181626" cy="412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E5B086-4085-21C6-A50E-695FFDC0AD92}"/>
              </a:ext>
            </a:extLst>
          </p:cNvPr>
          <p:cNvSpPr txBox="1"/>
          <p:nvPr/>
        </p:nvSpPr>
        <p:spPr>
          <a:xfrm>
            <a:off x="8080514" y="5857360"/>
            <a:ext cx="291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1 : AQI SCALE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0131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CBC62-6E96-3A7A-CA4D-788646D6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PROBLEM STATEMENT AND OBJECTIVES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00325-DF6F-A3B1-F47D-92DF2613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443"/>
            <a:ext cx="10515600" cy="52975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Problem Statement</a:t>
            </a:r>
          </a:p>
          <a:p>
            <a:r>
              <a:rPr lang="en-US" dirty="0"/>
              <a:t>Traditional air quality monitoring provides only current readings</a:t>
            </a:r>
          </a:p>
          <a:p>
            <a:r>
              <a:rPr lang="en-US" dirty="0"/>
              <a:t>There is a need to </a:t>
            </a:r>
            <a:r>
              <a:rPr lang="en-US" b="1" dirty="0"/>
              <a:t>predict pollution levels in advance</a:t>
            </a:r>
          </a:p>
          <a:p>
            <a:r>
              <a:rPr lang="en-US" dirty="0"/>
              <a:t>The challenge is to handle complex, non-linear relationships between features</a:t>
            </a:r>
          </a:p>
          <a:p>
            <a:r>
              <a:rPr lang="en-US" dirty="0"/>
              <a:t>This project aims to predict </a:t>
            </a:r>
            <a:r>
              <a:rPr lang="en-US" b="1" dirty="0"/>
              <a:t>PM2.5 levels</a:t>
            </a:r>
            <a:r>
              <a:rPr lang="en-US" dirty="0"/>
              <a:t> using Deep Learning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Objectives</a:t>
            </a:r>
          </a:p>
          <a:p>
            <a:r>
              <a:rPr lang="en-US" dirty="0"/>
              <a:t>To build a </a:t>
            </a:r>
            <a:r>
              <a:rPr lang="en-US" b="1" dirty="0"/>
              <a:t>Deep Learning model</a:t>
            </a:r>
            <a:r>
              <a:rPr lang="en-US" dirty="0"/>
              <a:t> for air quality prediction</a:t>
            </a:r>
          </a:p>
          <a:p>
            <a:r>
              <a:rPr lang="en-US" dirty="0"/>
              <a:t>To predict </a:t>
            </a:r>
            <a:r>
              <a:rPr lang="en-US" b="1" dirty="0"/>
              <a:t>PM2.5 concentration</a:t>
            </a:r>
            <a:r>
              <a:rPr lang="en-US" dirty="0"/>
              <a:t> using environmental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09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9BE3-9D2B-EC74-2496-66801394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DATASET OVERVIEW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DD982-4720-31CE-A43C-CEB828C04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Air quality dataset containing: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PM2.5, PM10 and other pollutant values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dirty="0"/>
              <a:t>Environmental and location-based features</a:t>
            </a:r>
          </a:p>
          <a:p>
            <a:r>
              <a:rPr lang="en-IN" dirty="0"/>
              <a:t>Dataset includes: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dirty="0"/>
              <a:t>Numerical features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dirty="0"/>
              <a:t>Categorical features</a:t>
            </a:r>
          </a:p>
          <a:p>
            <a:r>
              <a:rPr lang="en-IN" dirty="0"/>
              <a:t>Columns in the dataset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b="1" dirty="0"/>
              <a:t>Pollutant Features:</a:t>
            </a:r>
            <a:r>
              <a:rPr lang="en-US" dirty="0"/>
              <a:t> PM2.5, PM10, NOx, NO2, SO2, VOCs, CO, CO2, CH4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b="1" dirty="0"/>
              <a:t>Environmental Features:</a:t>
            </a:r>
            <a:r>
              <a:rPr lang="en-US" dirty="0"/>
              <a:t> Temperature, Humidity, Wind_Direction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b="1" dirty="0"/>
              <a:t>Categorical Features:</a:t>
            </a:r>
            <a:r>
              <a:rPr lang="en-IN" dirty="0"/>
              <a:t> Location_Type, Source_Label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b="1" dirty="0"/>
              <a:t>Target Variable:</a:t>
            </a:r>
            <a:r>
              <a:rPr lang="en-IN" dirty="0"/>
              <a:t> PM2.5</a:t>
            </a:r>
          </a:p>
        </p:txBody>
      </p:sp>
    </p:spTree>
    <p:extLst>
      <p:ext uri="{BB962C8B-B14F-4D97-AF65-F5344CB8AC3E}">
        <p14:creationId xmlns:p14="http://schemas.microsoft.com/office/powerpoint/2010/main" val="85517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C12-4241-E465-4800-B68954EA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660" y="1"/>
            <a:ext cx="9992139" cy="1093303"/>
          </a:xfrm>
        </p:spPr>
        <p:txBody>
          <a:bodyPr/>
          <a:lstStyle/>
          <a:p>
            <a:r>
              <a:rPr lang="en-US" b="1" i="1" dirty="0"/>
              <a:t>EXPLORATORY DATA ANALYSIS(EDA)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112FB-1CCC-0F60-ACE4-785CA77DF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0" y="1093304"/>
            <a:ext cx="6708913" cy="5764696"/>
          </a:xfrm>
        </p:spPr>
        <p:txBody>
          <a:bodyPr>
            <a:normAutofit/>
          </a:bodyPr>
          <a:lstStyle/>
          <a:p>
            <a:r>
              <a:rPr lang="en-US" dirty="0"/>
              <a:t>Exploratory Data Analysis was performed to understand the </a:t>
            </a:r>
            <a:r>
              <a:rPr lang="en-US" b="1" dirty="0"/>
              <a:t>distribution of air pollutants</a:t>
            </a:r>
            <a:r>
              <a:rPr lang="en-US" dirty="0"/>
              <a:t> and identify important patterns in the data</a:t>
            </a:r>
          </a:p>
          <a:p>
            <a:r>
              <a:rPr lang="en-US" dirty="0"/>
              <a:t>Relationships between </a:t>
            </a:r>
            <a:r>
              <a:rPr lang="en-US" b="1" dirty="0"/>
              <a:t>PM2.5, other pollutants, and location type</a:t>
            </a:r>
            <a:r>
              <a:rPr lang="en-US" dirty="0"/>
              <a:t> were analyzed to select meaningful features for prediction.</a:t>
            </a:r>
          </a:p>
          <a:p>
            <a:r>
              <a:rPr lang="en-US" b="1" dirty="0">
                <a:solidFill>
                  <a:srgbClr val="FF0000"/>
                </a:solidFill>
              </a:rPr>
              <a:t>PLOT 1 </a:t>
            </a:r>
            <a:r>
              <a:rPr lang="en-US" dirty="0"/>
              <a:t>: This histogram shows the distribution of PM2.5 concentrations across different locations, helping to understand pollution intensity and data spread.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graph of a distribution of pm2. 5&#10;&#10;AI-generated content may be incorrect.">
            <a:extLst>
              <a:ext uri="{FF2B5EF4-FFF2-40B4-BE49-F238E27FC236}">
                <a16:creationId xmlns:a16="http://schemas.microsoft.com/office/drawing/2014/main" id="{71423154-03FC-4524-8C3A-884DD1296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905" y="1350717"/>
            <a:ext cx="4715041" cy="4712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DC2768-3E4A-4D8E-E3ED-CCA291EAA72F}"/>
              </a:ext>
            </a:extLst>
          </p:cNvPr>
          <p:cNvSpPr txBox="1"/>
          <p:nvPr/>
        </p:nvSpPr>
        <p:spPr>
          <a:xfrm>
            <a:off x="7305261" y="6135617"/>
            <a:ext cx="444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1 : DISTRIBUTION OF PM2.5 LEVELS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7973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F040C-8369-64A5-3611-4D6E640E7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5" y="258418"/>
            <a:ext cx="9213574" cy="2584173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PLOT 2 </a:t>
            </a:r>
            <a:r>
              <a:rPr lang="en-US" dirty="0"/>
              <a:t>:  This scatter plot illustrates the positive correlation between PM10 and PM2.5, indicating that higher PM10 levels are associated with increased PM2.5 pollution</a:t>
            </a:r>
          </a:p>
          <a:p>
            <a:r>
              <a:rPr lang="en-US" b="1" dirty="0">
                <a:solidFill>
                  <a:srgbClr val="FF0000"/>
                </a:solidFill>
              </a:rPr>
              <a:t>PLOT 3 </a:t>
            </a:r>
            <a:r>
              <a:rPr lang="en-US" dirty="0"/>
              <a:t>: This box plot compares PM2.5 concentrations across Industrial, Urban, and Rural areas, showing higher pollution levels in industrial regions</a:t>
            </a:r>
          </a:p>
        </p:txBody>
      </p:sp>
      <p:pic>
        <p:nvPicPr>
          <p:cNvPr id="7" name="Picture 6" descr="A diagram of blue dots&#10;&#10;AI-generated content may be incorrect.">
            <a:extLst>
              <a:ext uri="{FF2B5EF4-FFF2-40B4-BE49-F238E27FC236}">
                <a16:creationId xmlns:a16="http://schemas.microsoft.com/office/drawing/2014/main" id="{722D57B0-B20B-5F9A-4DAC-0620C7B57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858" y="2474842"/>
            <a:ext cx="4470864" cy="3442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D04207-1103-BA1A-45CE-A9C64538ED65}"/>
              </a:ext>
            </a:extLst>
          </p:cNvPr>
          <p:cNvSpPr txBox="1"/>
          <p:nvPr/>
        </p:nvSpPr>
        <p:spPr>
          <a:xfrm>
            <a:off x="7812157" y="6062870"/>
            <a:ext cx="3438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2 : Relationship between PM10 and PM2.5</a:t>
            </a:r>
            <a:endParaRPr lang="en-IN" b="1" dirty="0"/>
          </a:p>
        </p:txBody>
      </p:sp>
      <p:pic>
        <p:nvPicPr>
          <p:cNvPr id="10" name="Picture 9" descr="A graph with blue and green squares&#10;&#10;AI-generated content may be incorrect.">
            <a:extLst>
              <a:ext uri="{FF2B5EF4-FFF2-40B4-BE49-F238E27FC236}">
                <a16:creationId xmlns:a16="http://schemas.microsoft.com/office/drawing/2014/main" id="{D195FD76-D8D1-B70A-8824-C28ADABEA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91" y="2978430"/>
            <a:ext cx="4681331" cy="28028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16AEF6-DA34-3A2F-DEB6-3E63C4EAE114}"/>
              </a:ext>
            </a:extLst>
          </p:cNvPr>
          <p:cNvSpPr txBox="1"/>
          <p:nvPr/>
        </p:nvSpPr>
        <p:spPr>
          <a:xfrm>
            <a:off x="1441174" y="5878204"/>
            <a:ext cx="3806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3 : PM2.5 Levels by Location Type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0517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972E-3969-34D8-51C4-6684357F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DATA PREPARATION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0868-1ED6-1C7F-A831-8181B9422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features and target variable were separated for model training</a:t>
            </a:r>
          </a:p>
          <a:p>
            <a:r>
              <a:rPr lang="en-US" dirty="0"/>
              <a:t>Numerical features were scaled using StandardScaler to improve ANN performance</a:t>
            </a:r>
          </a:p>
          <a:p>
            <a:r>
              <a:rPr lang="en-US" dirty="0"/>
              <a:t>The dataset was split into training and testing sets</a:t>
            </a:r>
          </a:p>
        </p:txBody>
      </p:sp>
    </p:spTree>
    <p:extLst>
      <p:ext uri="{BB962C8B-B14F-4D97-AF65-F5344CB8AC3E}">
        <p14:creationId xmlns:p14="http://schemas.microsoft.com/office/powerpoint/2010/main" val="202799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77A4-B16E-541C-DCF1-BAECFB2C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ANN MODEL ARCHITECTURE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B0A6D-2A77-CCE5-DC81-7559D8C7A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Artificial Neural Network (ANN) was designed for air quality prediction</a:t>
            </a:r>
          </a:p>
          <a:p>
            <a:r>
              <a:rPr lang="en-US" dirty="0"/>
              <a:t>The model consists of two hidden layers with ReLU activation for learning non-linear patterns</a:t>
            </a:r>
          </a:p>
          <a:p>
            <a:r>
              <a:rPr lang="en-US" dirty="0"/>
              <a:t>A linear output layer was used to predict continuous PM2.5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58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AD37-5D43-1D14-8E16-E2DC4C51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365125"/>
            <a:ext cx="11698357" cy="1325563"/>
          </a:xfrm>
        </p:spPr>
        <p:txBody>
          <a:bodyPr/>
          <a:lstStyle/>
          <a:p>
            <a:r>
              <a:rPr lang="en-US" b="1" i="1" dirty="0"/>
              <a:t>MODEL TRAINING AND MODEL EVALUATION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6CFBD-F60A-466E-1B88-22CD4CDAF7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Model Training</a:t>
            </a:r>
          </a:p>
          <a:p>
            <a:r>
              <a:rPr lang="en-US" dirty="0"/>
              <a:t>The model was trained using scaled training data</a:t>
            </a:r>
          </a:p>
          <a:p>
            <a:r>
              <a:rPr lang="en-US" dirty="0"/>
              <a:t>A validation split of 20% was used to monitor performance</a:t>
            </a:r>
          </a:p>
          <a:p>
            <a:r>
              <a:rPr lang="en-US" dirty="0"/>
              <a:t>Training was performed for 100 epochs with a batch size of 16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E8BDA-1119-36B2-FABC-1572F9CD1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Model Evaluation</a:t>
            </a:r>
          </a:p>
          <a:p>
            <a:r>
              <a:rPr lang="en-US" dirty="0"/>
              <a:t>Model performance was evaluated on unseen test data</a:t>
            </a:r>
          </a:p>
          <a:p>
            <a:r>
              <a:rPr lang="en-US" dirty="0"/>
              <a:t>Mean Squared Error (MSE) and Mean Absolute Error (MAE) were used as evaluation metrics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28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613D-5923-CFD1-CC10-F7013CDE5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8D403-4C8E-94F6-8A87-592E81B6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Result</a:t>
            </a:r>
          </a:p>
          <a:p>
            <a:r>
              <a:rPr lang="en-US" dirty="0"/>
              <a:t>Predicted PM2.5 values close to actual measurements</a:t>
            </a:r>
          </a:p>
          <a:p>
            <a:r>
              <a:rPr lang="en-US" dirty="0"/>
              <a:t>Model learned trend from data and converged well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Conclusion</a:t>
            </a:r>
          </a:p>
          <a:p>
            <a:r>
              <a:rPr lang="en-US" dirty="0"/>
              <a:t>Deep Learning can forecast air quality</a:t>
            </a:r>
          </a:p>
          <a:p>
            <a:r>
              <a:rPr lang="en-US" dirty="0"/>
              <a:t>Helps in monitoring and planning for pollution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738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758F-A347-19A2-331A-589679FB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FUTURE ENHANCEMENTS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DE6C-DF1C-C0AE-4D4E-7A46E52B1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more features like </a:t>
            </a:r>
            <a:r>
              <a:rPr lang="en-US" b="1" dirty="0"/>
              <a:t>humidity, wind, temperature</a:t>
            </a:r>
          </a:p>
          <a:p>
            <a:r>
              <a:rPr lang="en-US" dirty="0"/>
              <a:t>Use </a:t>
            </a:r>
            <a:r>
              <a:rPr lang="en-US" b="1" dirty="0"/>
              <a:t>LSTM/GRU</a:t>
            </a:r>
            <a:r>
              <a:rPr lang="en-US" dirty="0"/>
              <a:t> for better time-series predictions</a:t>
            </a:r>
          </a:p>
          <a:p>
            <a:r>
              <a:rPr lang="en-US" dirty="0"/>
              <a:t>Deploy for </a:t>
            </a:r>
            <a:r>
              <a:rPr lang="en-US" b="1" dirty="0"/>
              <a:t>real-time monitoring</a:t>
            </a:r>
            <a:r>
              <a:rPr lang="en-US" dirty="0"/>
              <a:t> via dashboard or app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85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559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AIR QUALITY PREDICTION USING DEEP LEARNING ARTIFICAL NEURAL NETWORK(ANN)</vt:lpstr>
      <vt:lpstr>INTRODUCTION</vt:lpstr>
      <vt:lpstr>PROBLEM STATEMENT AND OBJECTIVES</vt:lpstr>
      <vt:lpstr>DATASET OVERVIEW</vt:lpstr>
      <vt:lpstr>EXPLORATORY DATA ANALYSIS(EDA)</vt:lpstr>
      <vt:lpstr>PowerPoint Presentation</vt:lpstr>
      <vt:lpstr>DATA PREPARATION</vt:lpstr>
      <vt:lpstr>ANN MODEL ARCHITECTURE</vt:lpstr>
      <vt:lpstr>MODEL TRAINING AND MODEL EVALUATION</vt:lpstr>
      <vt:lpstr>RESULTS AND CONCLUSION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LIZARE SHERINE</dc:creator>
  <cp:lastModifiedBy>M LIZARE SHERINE</cp:lastModifiedBy>
  <cp:revision>1</cp:revision>
  <dcterms:created xsi:type="dcterms:W3CDTF">2026-01-20T05:48:45Z</dcterms:created>
  <dcterms:modified xsi:type="dcterms:W3CDTF">2026-01-20T07:00:37Z</dcterms:modified>
</cp:coreProperties>
</file>